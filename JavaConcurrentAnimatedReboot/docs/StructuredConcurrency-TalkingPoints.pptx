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D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2F2F2"/>
                </a:solidFill>
                <a:latin typeface="Segoe UI"/>
              </a:rPr>
              <a:t>Structured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2ED16A"/>
                </a:solidFill>
                <a:latin typeface="Segoe UI"/>
              </a:rPr>
              <a:t>A guided walkthrough of the animation — talking points, button by button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B5B5BC"/>
                </a:solidFill>
                <a:latin typeface="Consolas"/>
              </a:rPr>
              <a:t>Java 25 preview  •  JEP 505  •  java.util.concurrent.StructuredTaskScope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5B5BC"/>
                </a:solidFill>
                <a:latin typeface="Segoe UI"/>
              </a:rPr>
              <a:t>Part of Java Concurrent Animated — Reboot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5B5BC"/>
                </a:solidFill>
                <a:latin typeface="Segoe UI"/>
              </a:rPr>
              <a:t>Colour key:  </a:t>
            </a:r>
            <a:r>
              <a:rPr sz="1300" b="1" i="0">
                <a:solidFill>
                  <a:srgbClr val="2ED16A"/>
                </a:solidFill>
                <a:latin typeface="Segoe UI"/>
              </a:rPr>
              <a:t>green = runnable   </a:t>
            </a:r>
            <a:r>
              <a:rPr sz="1300" b="1" i="0">
                <a:solidFill>
                  <a:srgbClr val="F2F2F2"/>
                </a:solidFill>
                <a:latin typeface="Segoe UI"/>
              </a:rPr>
              <a:t>white = waiting   </a:t>
            </a:r>
            <a:r>
              <a:rPr sz="1300" b="1" i="0">
                <a:solidFill>
                  <a:srgbClr val="4F9DFF"/>
                </a:solidFill>
                <a:latin typeface="Segoe UI"/>
              </a:rPr>
              <a:t>blue = keyword   </a:t>
            </a:r>
            <a:r>
              <a:rPr sz="1300" b="1" i="0">
                <a:solidFill>
                  <a:srgbClr val="FF5A5A"/>
                </a:solidFill>
                <a:latin typeface="Segoe UI"/>
              </a:rPr>
              <a:t>red = failed / cancelled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D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D16A"/>
                </a:solidFill>
                <a:latin typeface="Segoe UI"/>
              </a:rPr>
              <a:t>THE ONE IDEA TO HOLD 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2F2"/>
                </a:solidFill>
                <a:latin typeface="Segoe UI"/>
              </a:rPr>
              <a:t>The scope is the box; subtasks live and die inside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2F2F2"/>
                </a:solidFill>
                <a:latin typeface="Segoe UI"/>
              </a:rPr>
              <a:t>In the animation, the tall grey monolith is the </a:t>
            </a:r>
            <a:r>
              <a:rPr sz="1800" b="1" i="0">
                <a:solidFill>
                  <a:srgbClr val="F5D042"/>
                </a:solidFill>
                <a:latin typeface="Consolas"/>
              </a:rPr>
              <a:t>StructuredTaskScope</a:t>
            </a:r>
            <a:r>
              <a:rPr sz="1800" b="0" i="0">
                <a:solidFill>
                  <a:srgbClr val="F2F2F2"/>
                </a:solidFill>
                <a:latin typeface="Segoe U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F2F2F2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2F2F2"/>
                </a:solidFill>
                <a:latin typeface="Segoe UI"/>
              </a:rPr>
              <a:t>• Every subtask you fork is a virtual thread that runs </a:t>
            </a:r>
            <a:r>
              <a:rPr sz="1700" b="1" i="0">
                <a:solidFill>
                  <a:srgbClr val="2ED16A"/>
                </a:solidFill>
                <a:latin typeface="Segoe UI"/>
              </a:rPr>
              <a:t>inside</a:t>
            </a:r>
            <a:r>
              <a:rPr sz="1700" b="0" i="0">
                <a:solidFill>
                  <a:srgbClr val="F2F2F2"/>
                </a:solidFill>
                <a:latin typeface="Segoe UI"/>
              </a:rPr>
              <a:t> that box.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2F2F2"/>
                </a:solidFill>
                <a:latin typeface="Segoe UI"/>
              </a:rPr>
              <a:t>• The scope owns its children: it cannot be closed until they all finish.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2F2F2"/>
                </a:solidFill>
                <a:latin typeface="Segoe UI"/>
              </a:rPr>
              <a:t>• If the scope shuts down, the children are </a:t>
            </a:r>
            <a:r>
              <a:rPr sz="1700" b="1" i="0">
                <a:solidFill>
                  <a:srgbClr val="FF5A5A"/>
                </a:solidFill>
                <a:latin typeface="Segoe UI"/>
              </a:rPr>
              <a:t>interrupted and cancelled</a:t>
            </a:r>
            <a:r>
              <a:rPr sz="1700" b="0" i="0">
                <a:solidFill>
                  <a:srgbClr val="F2F2F2"/>
                </a:solidFill>
                <a:latin typeface="Segoe UI"/>
              </a:rPr>
              <a:t> — no leaks, no orphans.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F2F2F2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B5B5BC"/>
                </a:solidFill>
                <a:latin typeface="Segoe UI"/>
              </a:rPr>
              <a:t>This parent-child confinement is the whole point: concurrency that follows the shape of your code, so errors and cancellation propagate the way exceptions 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691640"/>
            <a:ext cx="4343400" cy="3931920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874519"/>
            <a:ext cx="3931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F9DFF"/>
                </a:solidFill>
                <a:latin typeface="Consolas"/>
              </a:rPr>
              <a:t>try (var scope =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onsolas"/>
              </a:rPr>
              <a:t>      StructuredTaskScope.open(J)) {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ED16A"/>
                </a:solidFill>
                <a:latin typeface="Consolas"/>
              </a:rPr>
              <a:t>  var a = scope.fork(task1);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ED16A"/>
                </a:solidFill>
                <a:latin typeface="Consolas"/>
              </a:rPr>
              <a:t>  var b = scope.fork(task2);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D042"/>
                </a:solidFill>
                <a:latin typeface="Consolas"/>
              </a:rPr>
              <a:t>  var r = scope.join();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onsolas"/>
              </a:rPr>
              <a:t>  process(r);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5B5BC"/>
                </a:solidFill>
                <a:latin typeface="Consolas"/>
              </a:rPr>
              <a:t>}  // all children done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D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D16A"/>
                </a:solidFill>
                <a:latin typeface="Segoe UI"/>
              </a:rPr>
              <a:t>BUTTON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9050">
            <a:solidFill>
              <a:srgbClr val="2ED1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2F2F2"/>
                </a:solidFill>
                <a:latin typeface="Consolas"/>
              </a:rPr>
              <a:t>open(allSuccessfulOrThrow)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Open a scope that demands every subtask succeed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6492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Creates the scope with the fail-fast “all must succeed” joiner.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This is the everyday case: a fan-out where you need every result to proceed.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join() will return a Stream of the completed subtasks.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You map each Subtask::get to its value — all guaranteed present.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The moment ANY subtask throws, the scope cancels the rest.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Fail-fast: no time wasted finishing work whose result you’ll discard.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Nothing is forked yet — the box (scope) simply appears, ready.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Owner thread is now parked, waiting for your fork commands.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148840"/>
            <a:ext cx="4343400" cy="3566160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331720"/>
            <a:ext cx="3931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4F9DFF"/>
                </a:solidFill>
                <a:latin typeface="Consolas"/>
              </a:rPr>
              <a:t>StructuredTaskScope.open(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2F2F2"/>
                </a:solidFill>
                <a:latin typeface="Consolas"/>
              </a:rPr>
              <a:t>  Joiner.&lt;T&gt;allSuccessfulOrThrow())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2F2F2"/>
                </a:solidFill>
                <a:latin typeface="Consolas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5B5BC"/>
                </a:solidFill>
                <a:latin typeface="Consolas"/>
              </a:rPr>
              <a:t>// join() -&gt; Stream&lt;Subtask&lt;T&gt;&gt;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5B5BC"/>
                </a:solidFill>
                <a:latin typeface="Consolas"/>
              </a:rPr>
              <a:t>// one failure -&gt; cancel siblings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D16A"/>
                </a:solidFill>
                <a:latin typeface="Segoe UI"/>
              </a:rPr>
              <a:t>Watch the animation:  </a:t>
            </a:r>
            <a:r>
              <a:rPr sz="1400" b="0" i="1">
                <a:solidFill>
                  <a:srgbClr val="B5B5BC"/>
                </a:solidFill>
                <a:latin typeface="Segoe UI"/>
              </a:rPr>
              <a:t>the grey monolith is drawn — an empty scope waiting for children.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F9DFF"/>
                </a:solidFill>
                <a:latin typeface="Segoe UI"/>
              </a:rPr>
              <a:t>BUTTON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9050">
            <a:solidFill>
              <a:srgbClr val="4F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2F2F2"/>
                </a:solidFill>
                <a:latin typeface="Consolas"/>
              </a:rPr>
              <a:t>open(anySuccessfulResultOrThrow)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F9DFF"/>
                </a:solidFill>
                <a:latin typeface="Segoe UI"/>
              </a:rPr>
              <a:t>Open a scope where the first success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6492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4F9DFF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Creates the scope with the “race” joiner.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Perfect for redundancy: ask three mirrors, take whoever answers first.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4F9DFF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join() returns the single winning value directly — not a stream.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As soon as one subtask succeeds, join() unblocks with that result.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4F9DFF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The losing siblings are cancelled automatically.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You never wait for the slower replicas; they’re interrupted.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4F9DFF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Only fails if EVERY subtask fails.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Then join() throws FailedException — there was no success to return.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148840"/>
            <a:ext cx="4343400" cy="3566160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331720"/>
            <a:ext cx="3931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4F9DFF"/>
                </a:solidFill>
                <a:latin typeface="Consolas"/>
              </a:rPr>
              <a:t>StructuredTaskScope.open(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2F2F2"/>
                </a:solidFill>
                <a:latin typeface="Consolas"/>
              </a:rPr>
              <a:t>  Joiner.&lt;T&gt;anySuccessfulResultOrThrow())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2F2F2"/>
                </a:solidFill>
                <a:latin typeface="Consolas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5B5BC"/>
                </a:solidFill>
                <a:latin typeface="Consolas"/>
              </a:rPr>
              <a:t>// join() -&gt; T (the winner)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5B5BC"/>
                </a:solidFill>
                <a:latin typeface="Consolas"/>
              </a:rPr>
              <a:t>// first success cancels the 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F9DFF"/>
                </a:solidFill>
                <a:latin typeface="Segoe UI"/>
              </a:rPr>
              <a:t>Watch the animation:  </a:t>
            </a:r>
            <a:r>
              <a:rPr sz="1400" b="0" i="1">
                <a:solidFill>
                  <a:srgbClr val="B5B5BC"/>
                </a:solidFill>
                <a:latin typeface="Segoe UI"/>
              </a:rPr>
              <a:t>same empty scope — but now wired for first-one-wins semantics.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D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D16A"/>
                </a:solidFill>
                <a:latin typeface="Segoe UI"/>
              </a:rPr>
              <a:t>BUTTON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9050">
            <a:solidFill>
              <a:srgbClr val="2ED1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2F2F2"/>
                </a:solidFill>
                <a:latin typeface="Consolas"/>
              </a:rPr>
              <a:t>fork(subtask)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Add a child task that runs concurrently inside the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6492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scope.fork(...) starts a new virtual thread for the subtask.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In the animation a rounded runner enters the box and parks (white = in-flight).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Fork as many as you like — the scope grows to hold them all.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Each child is cheap: virtual threads scale to thousands.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Forking is confined to the owner thread, before join().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You cannot fork after join() — the animation blocks that, just like the API.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A returned Subtask handle lets you read its value after join().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But you never touch it until join() says the results are 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148840"/>
            <a:ext cx="4343400" cy="3566160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331720"/>
            <a:ext cx="3931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2F2F2"/>
                </a:solidFill>
                <a:latin typeface="Consolas"/>
              </a:rPr>
              <a:t>Subtask&lt;String&gt; s1 =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ED16A"/>
                </a:solidFill>
                <a:latin typeface="Consolas"/>
              </a:rPr>
              <a:t>    scope.fork(() -&gt; fetchA());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2F2F2"/>
                </a:solidFill>
                <a:latin typeface="Consolas"/>
              </a:rPr>
              <a:t>Subtask&lt;String&gt; s2 =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ED16A"/>
                </a:solidFill>
                <a:latin typeface="Consolas"/>
              </a:rPr>
              <a:t>    scope.fork(() -&gt; fetchB());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2F2F2"/>
                </a:solidFill>
                <a:latin typeface="Consolas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5B5BC"/>
                </a:solidFill>
                <a:latin typeface="Consolas"/>
              </a:rPr>
              <a:t>// children now live in the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D16A"/>
                </a:solidFill>
                <a:latin typeface="Segoe UI"/>
              </a:rPr>
              <a:t>Watch the animation:  </a:t>
            </a:r>
            <a:r>
              <a:rPr sz="1400" b="0" i="1">
                <a:solidFill>
                  <a:srgbClr val="B5B5BC"/>
                </a:solidFill>
                <a:latin typeface="Segoe UI"/>
              </a:rPr>
              <a:t>each click adds a subtask sprite parked inside the monolith.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D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D16A"/>
                </a:solidFill>
                <a:latin typeface="Segoe UI"/>
              </a:rPr>
              <a:t>BUTTON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9050">
            <a:solidFill>
              <a:srgbClr val="2ED1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2F2F2"/>
                </a:solidFill>
                <a:latin typeface="Consolas"/>
              </a:rPr>
              <a:t>Succeed a subtask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Let one in-flight child complete normally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64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Resolves the oldest pending subtask with a value.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This is a teaching control — it stands in for the child’s work finishing.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In allSuccessful mode: the scope keeps waiting for the others.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join() only returns once every child has succeeded.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In anySuccessful mode: this is the winner — join() returns it.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and the remaining siblings are immediately cancelled.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The succeeding sprite exits the scope to the right (done).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Green → terminated: it carried a result out of the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D16A"/>
                </a:solidFill>
                <a:latin typeface="Segoe UI"/>
              </a:rPr>
              <a:t>Watch the animation:  </a:t>
            </a:r>
            <a:r>
              <a:rPr sz="1400" b="0" i="1">
                <a:solidFill>
                  <a:srgbClr val="B5B5BC"/>
                </a:solidFill>
                <a:latin typeface="Segoe UI"/>
              </a:rPr>
              <a:t>the resolved runner leaves the box to the right, carrying its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5A5A"/>
                </a:solidFill>
                <a:latin typeface="Segoe UI"/>
              </a:rPr>
              <a:t>BUTTON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9050">
            <a:solidFill>
              <a:srgbClr val="FF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2F2F2"/>
                </a:solidFill>
                <a:latin typeface="Consolas"/>
              </a:rPr>
              <a:t>Fail a subtask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5A5A"/>
                </a:solidFill>
                <a:latin typeface="Segoe UI"/>
              </a:rPr>
              <a:t>Make one child throw — and watch cancellation propagate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6492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FF5A5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The oldest pending subtask throws an exception.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This is where structured concurrency truly earns its keep.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FF5A5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allSuccessful mode: fail-fast — all siblings are cancelled at once.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Their virtual threads are interrupted; the sprites retreat to the left (red).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FF5A5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anySuccessful mode: a single failure is tolerated.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The scope keeps racing; it only throws if ALL children fail.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FF5A5A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The failure is remembered and surfaced by join() as FailedException.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No exception is ever silently lost, unlike a detached future.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148840"/>
            <a:ext cx="4343400" cy="3566160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331720"/>
            <a:ext cx="3931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5B5BC"/>
                </a:solidFill>
                <a:latin typeface="Consolas"/>
              </a:rPr>
              <a:t>// inside a subtask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5A5A"/>
                </a:solidFill>
                <a:latin typeface="Consolas"/>
              </a:rPr>
              <a:t>throw new IOException(...);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2F2F2"/>
                </a:solidFill>
                <a:latin typeface="Consolas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5B5BC"/>
                </a:solidFill>
                <a:latin typeface="Consolas"/>
              </a:rPr>
              <a:t>// allSuccessful: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5A5A"/>
                </a:solidFill>
                <a:latin typeface="Consolas"/>
              </a:rPr>
              <a:t>//   -&gt; siblings interrupted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5A5A"/>
                </a:solidFill>
                <a:latin typeface="Consolas"/>
              </a:rPr>
              <a:t>//   -&gt; join() throws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5A5A"/>
                </a:solidFill>
                <a:latin typeface="Segoe UI"/>
              </a:rPr>
              <a:t>Watch the animation:  </a:t>
            </a:r>
            <a:r>
              <a:rPr sz="1400" b="0" i="1">
                <a:solidFill>
                  <a:srgbClr val="B5B5BC"/>
                </a:solidFill>
                <a:latin typeface="Segoe UI"/>
              </a:rPr>
              <a:t>siblings retreat to the left the instant one child fails (fail-fast).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D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D042"/>
                </a:solidFill>
                <a:latin typeface="Segoe UI"/>
              </a:rPr>
              <a:t>BUTTON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9050">
            <a:solidFill>
              <a:srgbClr val="F5D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2F2F2"/>
                </a:solidFill>
                <a:latin typeface="Consolas"/>
              </a:rPr>
              <a:t>join()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D042"/>
                </a:solidFill>
                <a:latin typeface="Segoe UI"/>
              </a:rPr>
              <a:t>Wait for the scope to reach its conclusion — the join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6492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F5D042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Blocks the owner thread until the joiner’s condition is met.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all-succeeded, first-success, or a failure — whichever comes first.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F5D042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On success: returns results and the NEXT STEP runs.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The animation sends a downstream “next step” thread through the scope.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F5D042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On failure: throws FailedException; the next step is skipped.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Control jumps to your catch block — exactly like ordinary sequential code.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F5D042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join() re-establishes a single thread of control after the fan-out.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Everything before it happened concurrently; everything after is sequential again.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148840"/>
            <a:ext cx="4343400" cy="3566160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331720"/>
            <a:ext cx="3931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4F9DFF"/>
                </a:solidFill>
                <a:latin typeface="Consolas"/>
              </a:rPr>
              <a:t>try {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5D042"/>
                </a:solidFill>
                <a:latin typeface="Consolas"/>
              </a:rPr>
              <a:t>  var r = scope.join();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ED16A"/>
                </a:solidFill>
                <a:latin typeface="Consolas"/>
              </a:rPr>
              <a:t>  process(r);   // next step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4F9DFF"/>
                </a:solidFill>
                <a:latin typeface="Consolas"/>
              </a:rPr>
              <a:t>} catch (FailedException e) {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5A5A"/>
                </a:solidFill>
                <a:latin typeface="Consolas"/>
              </a:rPr>
              <a:t>  handle(e.getCause());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4F9DF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D042"/>
                </a:solidFill>
                <a:latin typeface="Segoe UI"/>
              </a:rPr>
              <a:t>Watch the animation:  </a:t>
            </a:r>
            <a:r>
              <a:rPr sz="1400" b="0" i="1">
                <a:solidFill>
                  <a:srgbClr val="B5B5BC"/>
                </a:solidFill>
                <a:latin typeface="Segoe UI"/>
              </a:rPr>
              <a:t>green “next step” runs on success; on failure the catch line lights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5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5B5BC"/>
                </a:solidFill>
                <a:latin typeface="Segoe UI"/>
              </a:rPr>
              <a:t>BUTTON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6035040" cy="65836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9050">
            <a:solidFill>
              <a:srgbClr val="B5B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2F2F2"/>
                </a:solidFill>
                <a:latin typeface="Consolas"/>
              </a:rPr>
              <a:t>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5B5BC"/>
                </a:solidFill>
                <a:latin typeface="Segoe UI"/>
              </a:rPr>
              <a:t>Tear the scope down and start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64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B5B5BC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Interrupts the owner thread and closes any open scope.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try-with-resources guarantees the scope is closed and children are cancelled.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B5B5BC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Clears all subtasks and returns the box to its empty state.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A clean slate to demo the other joiner or another fork pattern.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B5B5BC"/>
                </a:solidFill>
                <a:latin typeface="Segoe UI"/>
              </a:rPr>
              <a:t>•  </a:t>
            </a:r>
            <a:r>
              <a:rPr sz="1600" b="1" i="0">
                <a:solidFill>
                  <a:srgbClr val="F2F2F2"/>
                </a:solidFill>
                <a:latin typeface="Segoe UI"/>
              </a:rPr>
              <a:t>Demonstrates deterministic cleanup — the core promise.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F2F2F2"/>
                </a:solidFill>
                <a:latin typeface="Segoe UI"/>
              </a:rPr>
              <a:t>    </a:t>
            </a:r>
            <a:r>
              <a:rPr sz="1500" b="0" i="0">
                <a:solidFill>
                  <a:srgbClr val="B5B5BC"/>
                </a:solidFill>
                <a:latin typeface="Segoe UI"/>
              </a:rPr>
              <a:t>When the block exits, there are provably no threads still running.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5B5BC"/>
                </a:solidFill>
                <a:latin typeface="Segoe UI"/>
              </a:rPr>
              <a:t>Watch the animation:  </a:t>
            </a:r>
            <a:r>
              <a:rPr sz="1400" b="0" i="1">
                <a:solidFill>
                  <a:srgbClr val="B5B5BC"/>
                </a:solidFill>
                <a:latin typeface="Segoe UI"/>
              </a:rPr>
              <a:t>the monolith empties and shrinks back — nothing left running.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D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D16A"/>
                </a:solidFill>
                <a:latin typeface="Segoe U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2F2"/>
                </a:solidFill>
                <a:latin typeface="Segoe UI"/>
              </a:rPr>
              <a:t>Benefits over CompletableFuture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2C2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01368"/>
            <a:ext cx="50840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Readable, sequential shape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B5B5BC"/>
                </a:solidFill>
                <a:latin typeface="Segoe UI"/>
              </a:rPr>
              <a:t>Fork/join lives in one try block. Control flow reads top-to-bottom instead of a chain of thenCompose / thenCombine callbacks.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2C2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1801368"/>
            <a:ext cx="50840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No leaked threads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B5B5BC"/>
                </a:solidFill>
                <a:latin typeface="Segoe UI"/>
              </a:rPr>
              <a:t>The scope can’t close until every child finishes or is cancelled. A stray CompletableFuture can outlive its caller and run forever.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72968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2C2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82696"/>
            <a:ext cx="50840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Automatic cancellation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B5B5BC"/>
                </a:solidFill>
                <a:latin typeface="Segoe UI"/>
              </a:rPr>
              <a:t>One failure cancels the siblings for free. With CompletableFuture you must wire up cancellation and propagation by hand.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172968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2C2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3282696"/>
            <a:ext cx="50840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Errors can’t vanish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B5B5BC"/>
                </a:solidFill>
                <a:latin typeface="Segoe UI"/>
              </a:rPr>
              <a:t>Every subtask exception is collected and surfaced by join(). A CompletableFuture whose result is never read can swallow its exception.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54296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2C2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764024"/>
            <a:ext cx="50840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Real stack traces &amp; observability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B5B5BC"/>
                </a:solidFill>
                <a:latin typeface="Segoe UI"/>
              </a:rPr>
              <a:t>Children are ordinary threads with a parent link, so thread dumps show the tree. CF work hops around a shared pool, hiding 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654296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2C2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4764024"/>
            <a:ext cx="50840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D16A"/>
                </a:solidFill>
                <a:latin typeface="Segoe UI"/>
              </a:rPr>
              <a:t>Cheap fan-out via virtual threads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B5B5BC"/>
                </a:solidFill>
                <a:latin typeface="Segoe UI"/>
              </a:rPr>
              <a:t>Blocking calls in subtasks are fine — no need to make everything non-blocking just to avoid starving a pool.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F9DFF"/>
                </a:solidFill>
                <a:latin typeface="Segoe UI"/>
              </a:rPr>
              <a:t>USE THE RIGHT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2F2"/>
                </a:solidFill>
                <a:latin typeface="Segoe UI"/>
              </a:rPr>
              <a:t>When CompletableFuture is still the better choice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2C2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4F9DFF"/>
                </a:solidFill>
                <a:latin typeface="Segoe UI"/>
              </a:rPr>
              <a:t>Fire-and-forget / long-lived work</a:t>
            </a:r>
            <a:r>
              <a:rPr sz="1300" b="0" i="0">
                <a:solidFill>
                  <a:srgbClr val="B5B5BC"/>
                </a:solidFill>
                <a:latin typeface="Segoe UI"/>
              </a:rPr>
              <a:t>   — Tasks that must outlive the current method — background refresh, caches, work that isn’t tied to one request’s lifetime. A scope insists on joining before it exits.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60904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2C2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52344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4F9DFF"/>
                </a:solidFill>
                <a:latin typeface="Segoe UI"/>
              </a:rPr>
              <a:t>Event-driven pipelines &amp; composition</a:t>
            </a:r>
            <a:r>
              <a:rPr sz="1300" b="0" i="0">
                <a:solidFill>
                  <a:srgbClr val="B5B5BC"/>
                </a:solidFill>
                <a:latin typeface="Segoe UI"/>
              </a:rPr>
              <a:t>   — Rich chaining with thenApply / thenCompose / thenCombine, or reacting whenComplete. CF is a composable value; a scope is a lifetime, not a pipeline stage.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30168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2C2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2160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4F9DFF"/>
                </a:solidFill>
                <a:latin typeface="Segoe UI"/>
              </a:rPr>
              <a:t>A result others subscribe to later</a:t>
            </a:r>
            <a:r>
              <a:rPr sz="1300" b="0" i="0">
                <a:solidFill>
                  <a:srgbClr val="B5B5BC"/>
                </a:solidFill>
                <a:latin typeface="Segoe UI"/>
              </a:rPr>
              <a:t>   — You want to hand back a CompletableFuture that many callers attach callbacks to over time. Structured scopes are consumed at the join point, not passed around.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99432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2C2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90872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4F9DFF"/>
                </a:solidFill>
                <a:latin typeface="Segoe UI"/>
              </a:rPr>
              <a:t>Callback / non-blocking APIs</a:t>
            </a:r>
            <a:r>
              <a:rPr sz="1300" b="0" i="0">
                <a:solidFill>
                  <a:srgbClr val="B5B5BC"/>
                </a:solidFill>
                <a:latin typeface="Segoe UI"/>
              </a:rPr>
              <a:t>   — Bridging an async, callback-based library via completeExceptionally / complete fits CF naturally.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68696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2700">
            <a:solidFill>
              <a:srgbClr val="2C2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660136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4F9DFF"/>
                </a:solidFill>
                <a:latin typeface="Segoe UI"/>
              </a:rPr>
              <a:t>Pre-Java 21, or no preview flag</a:t>
            </a:r>
            <a:r>
              <a:rPr sz="1300" b="0" i="0">
                <a:solidFill>
                  <a:srgbClr val="B5B5BC"/>
                </a:solidFill>
                <a:latin typeface="Segoe UI"/>
              </a:rPr>
              <a:t>   — StructuredTaskScope is a preview API. CompletableFuture has been stable since Java 8 and needs no --enable-preview.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D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D16A"/>
                </a:solidFill>
                <a:latin typeface="Segoe UI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2F2"/>
                </a:solidFill>
                <a:latin typeface="Segoe UI"/>
              </a:rPr>
              <a:t>Rule of thumb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109960" cy="1371600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9050">
            <a:solidFill>
              <a:srgbClr val="2ED1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2F2F2"/>
                </a:solidFill>
                <a:latin typeface="Segoe UI"/>
              </a:rPr>
              <a:t>Concurrent sub-work for one task, that must all finish before you continue?  </a:t>
            </a:r>
            <a:r>
              <a:rPr sz="1800" b="1" i="0">
                <a:solidFill>
                  <a:srgbClr val="2ED16A"/>
                </a:solidFill>
                <a:latin typeface="Segoe UI"/>
              </a:rPr>
              <a:t>Structured Concurrency.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11109960" cy="1371600"/>
          </a:xfrm>
          <a:prstGeom prst="roundRect">
            <a:avLst>
              <a:gd name="adj" fmla="val 8000"/>
            </a:avLst>
          </a:prstGeom>
          <a:solidFill>
            <a:srgbClr val="161618"/>
          </a:solidFill>
          <a:ln w="19050">
            <a:solidFill>
              <a:srgbClr val="4F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2F2F2"/>
                </a:solidFill>
                <a:latin typeface="Segoe UI"/>
              </a:rPr>
              <a:t>A composable, long-lived, or subscribed-to async value?  </a:t>
            </a:r>
            <a:r>
              <a:rPr sz="1800" b="1" i="0">
                <a:solidFill>
                  <a:srgbClr val="4F9DFF"/>
                </a:solidFill>
                <a:latin typeface="Segoe UI"/>
              </a:rPr>
              <a:t>CompletableFuture.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1109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B5B5BC"/>
                </a:solidFill>
                <a:latin typeface="Segoe UI"/>
              </a:rPr>
              <a:t>They’re complementary: reach for structured concurrency to orchestrate a fan-out within a request, and keep CompletableFuture for reactive composition and work that lives beyond the call.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